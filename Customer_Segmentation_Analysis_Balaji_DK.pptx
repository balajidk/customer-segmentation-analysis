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212" y="1920240"/>
            <a:ext cx="7051096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CUSTOMER SEGMENTATION ANALYSIS</a:t>
            </a:r>
          </a:p>
          <a:p>
            <a:pPr algn="ctr">
              <a:defRPr sz="2000"/>
            </a:pPr>
            <a:r>
              <a:rPr dirty="0"/>
              <a:t>Customer Shopping Trends &amp; Targeted Marketing Strategies</a:t>
            </a:r>
          </a:p>
          <a:p>
            <a:pPr algn="ctr">
              <a:defRPr sz="1600"/>
            </a:pPr>
            <a:r>
              <a:rPr dirty="0"/>
              <a:t>Project: CDACL-002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Analyze customer shopping and purchase behavior.</a:t>
            </a:r>
          </a:p>
          <a:p>
            <a:pPr>
              <a:spcAft>
                <a:spcPts val="1200"/>
              </a:spcAft>
              <a:defRPr sz="2000"/>
            </a:pPr>
            <a:r>
              <a:t>Identify product categories where discounts are most suitable.</a:t>
            </a:r>
          </a:p>
          <a:p>
            <a:pPr>
              <a:spcAft>
                <a:spcPts val="1200"/>
              </a:spcAft>
              <a:defRPr sz="2000"/>
            </a:pPr>
            <a:r>
              <a:t>Study spending patterns by age, season and location.</a:t>
            </a:r>
          </a:p>
          <a:p>
            <a:pPr>
              <a:spcAft>
                <a:spcPts val="1200"/>
              </a:spcAft>
              <a:defRPr sz="2000"/>
            </a:pPr>
            <a:r>
              <a:t>Segment customers into 3 or more groups using clustering.</a:t>
            </a:r>
          </a:p>
          <a:p>
            <a:pPr>
              <a:spcAft>
                <a:spcPts val="1200"/>
              </a:spcAft>
              <a:defRPr sz="2000"/>
            </a:pPr>
            <a:r>
              <a:t>Identify dominant customer factors and propose targeted marketing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&amp; Data Preparation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25880"/>
          <a:ext cx="5303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3,900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Product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Seasons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Checked structure, missing values and duplicates.</a:t>
            </a:r>
          </a:p>
          <a:p>
            <a:pPr>
              <a:spcAft>
                <a:spcPts val="1200"/>
              </a:spcAft>
              <a:defRPr sz="1700"/>
            </a:pPr>
            <a:r>
              <a:t>Created age groups for spending analysis.</a:t>
            </a:r>
          </a:p>
          <a:p>
            <a:pPr>
              <a:spcAft>
                <a:spcPts val="1200"/>
              </a:spcAft>
              <a:defRPr sz="1700"/>
            </a:pPr>
            <a:r>
              <a:t>Encoded Yes/No variables for clustering.</a:t>
            </a:r>
          </a:p>
          <a:p>
            <a:pPr>
              <a:spcAft>
                <a:spcPts val="1200"/>
              </a:spcAft>
              <a:defRPr sz="1700"/>
            </a:pPr>
            <a:r>
              <a:t>Converted purchase frequency into approximate annual frequency.</a:t>
            </a:r>
          </a:p>
          <a:p>
            <a:pPr>
              <a:spcAft>
                <a:spcPts val="1200"/>
              </a:spcAft>
              <a:defRPr sz="1700"/>
            </a:pPr>
            <a:r>
              <a:t>Standardized clustering features using StandardScaler.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Discount &amp; Category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6400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No 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$60.89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$58.49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-$2.40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$60.22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$59.75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-$0.47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Footwear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$59.08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$61.80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+ $2.72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Outerwear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$58.66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$55.32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-$3.34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4630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Key finding: Footwear showed the strongest positive difference.</a:t>
            </a:r>
          </a:p>
          <a:p>
            <a:pPr>
              <a:spcAft>
                <a:spcPts val="1200"/>
              </a:spcAft>
              <a:defRPr sz="1600"/>
            </a:pPr>
            <a:r>
              <a:t>Recommendation: Use targeted discounts for Footwear.</a:t>
            </a:r>
          </a:p>
          <a:p>
            <a:pPr>
              <a:spcAft>
                <a:spcPts val="1200"/>
              </a:spcAft>
              <a:defRPr sz="1600"/>
            </a:pPr>
            <a:r>
              <a:t>Note: This is an observed association, not proof that discounts caused higher spending.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Age &amp; Spending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25880"/>
          <a:ext cx="4572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Avg Purchase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18–25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$60.65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26–35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$59.76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36–45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$59.31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46–55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$60.58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56–65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$59.14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66–70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$58.88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Highest average: 18–25 ($60.65)</a:t>
            </a:r>
          </a:p>
          <a:p>
            <a:pPr>
              <a:spcAft>
                <a:spcPts val="1200"/>
              </a:spcAft>
              <a:defRPr sz="1900"/>
            </a:pPr>
            <a:r>
              <a:t>Lowest average: 66–70 ($58.88)</a:t>
            </a:r>
          </a:p>
          <a:p>
            <a:pPr>
              <a:spcAft>
                <a:spcPts val="1200"/>
              </a:spcAft>
              <a:defRPr sz="1900"/>
            </a:pPr>
            <a:r>
              <a:t>Difference: only $1.77</a:t>
            </a:r>
          </a:p>
          <a:p>
            <a:pPr>
              <a:spcAft>
                <a:spcPts val="1200"/>
              </a:spcAft>
              <a:defRPr sz="1900"/>
            </a:pPr>
            <a:r>
              <a:t>Conclusion: Age alone is not a strong spending differentiator.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Season &amp; Location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Fall had the highest average purchase: $61.56.</a:t>
            </a:r>
          </a:p>
          <a:p>
            <a:pPr>
              <a:spcAft>
                <a:spcPts val="1200"/>
              </a:spcAft>
              <a:defRPr sz="1900"/>
            </a:pPr>
            <a:r>
              <a:t>Winter followed at $60.36.</a:t>
            </a:r>
          </a:p>
          <a:p>
            <a:pPr>
              <a:spcAft>
                <a:spcPts val="1200"/>
              </a:spcAft>
              <a:defRPr sz="1900"/>
            </a:pPr>
            <a:r>
              <a:t>Summer had the lowest average: $58.41.</a:t>
            </a:r>
          </a:p>
          <a:p>
            <a:pPr>
              <a:spcAft>
                <a:spcPts val="1200"/>
              </a:spcAft>
              <a:defRPr sz="1900"/>
            </a:pPr>
            <a:r>
              <a:t>Highest observed location average: Alaska — $67.60.</a:t>
            </a:r>
          </a:p>
          <a:p>
            <a:pPr>
              <a:spcAft>
                <a:spcPts val="1200"/>
              </a:spcAft>
              <a:defRPr sz="1900"/>
            </a:pPr>
            <a:r>
              <a:t>Lowest observed location average: Connecticut — $54.18.</a:t>
            </a:r>
          </a:p>
          <a:p>
            <a:pPr>
              <a:spcAft>
                <a:spcPts val="1200"/>
              </a:spcAft>
              <a:defRPr sz="1900"/>
            </a:pPr>
            <a:r>
              <a:t>Location showed greater spending variation than age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Clustering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Algorithm: K-Means Clustering</a:t>
            </a:r>
          </a:p>
          <a:p>
            <a:pPr>
              <a:spcAft>
                <a:spcPts val="1200"/>
              </a:spcAft>
              <a:defRPr sz="1600"/>
            </a:pPr>
            <a:r>
              <a:t>Features: Age, Purchase Amount, Review Rating, Previous Purchases, Discount Applied, Promo Code Used, Subscription Status and Purchase Frequency.</a:t>
            </a:r>
          </a:p>
          <a:p>
            <a:pPr>
              <a:spcAft>
                <a:spcPts val="1200"/>
              </a:spcAft>
              <a:defRPr sz="1600"/>
            </a:pPr>
            <a:r>
              <a:t>Customer ID was excluded because it is an identifier, not a behavioral feature.</a:t>
            </a:r>
          </a:p>
          <a:p>
            <a:pPr>
              <a:spcAft>
                <a:spcPts val="1200"/>
              </a:spcAft>
              <a:defRPr sz="1600"/>
            </a:pPr>
            <a:r>
              <a:t>Yes/No variables were encoded numerically.</a:t>
            </a:r>
          </a:p>
          <a:p>
            <a:pPr>
              <a:spcAft>
                <a:spcPts val="1200"/>
              </a:spcAft>
              <a:defRPr sz="1600"/>
            </a:pPr>
            <a:r>
              <a:t>Features were standardized before K-Means.</a:t>
            </a:r>
          </a:p>
          <a:p>
            <a:pPr>
              <a:spcAft>
                <a:spcPts val="1200"/>
              </a:spcAft>
              <a:defRPr sz="1600"/>
            </a:pPr>
            <a:r>
              <a:t>Elbow Method and Silhouette Score were used to evaluate K.</a:t>
            </a:r>
          </a:p>
          <a:p>
            <a:pPr>
              <a:spcAft>
                <a:spcPts val="1200"/>
              </a:spcAft>
              <a:defRPr sz="1600"/>
            </a:pPr>
            <a:r>
              <a:t>K = 3 was selected because the project requires at least 3 groups and K=3 was the best eligible choice.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Customer Segments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Promotional Non-Subscribers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2,223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Regular Non-Promotional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1,053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Subscribed Promotional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891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Cluster 0: Discount + Promo, no subscription; avg purchase $58.92.</a:t>
            </a:r>
          </a:p>
          <a:p>
            <a:pPr>
              <a:spcAft>
                <a:spcPts val="1200"/>
              </a:spcAft>
              <a:defRPr sz="1600"/>
            </a:pPr>
            <a:r>
              <a:t>Cluster 1: No discount + no promo, no subscription; avg purchase $60.13.</a:t>
            </a:r>
          </a:p>
          <a:p>
            <a:pPr>
              <a:spcAft>
                <a:spcPts val="1200"/>
              </a:spcAft>
              <a:defRPr sz="1600"/>
            </a:pPr>
            <a:r>
              <a:t>Cluster 2: Discount + Promo + subscription; avg purchase $59.49.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Dominant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Primary differentiator: Promotional engagement (Discount Applied + Promo Code Used).</a:t>
            </a:r>
          </a:p>
          <a:p>
            <a:pPr>
              <a:spcAft>
                <a:spcPts val="1200"/>
              </a:spcAft>
              <a:defRPr sz="2000"/>
            </a:pPr>
            <a:r>
              <a:t>Primary differentiator: Subscription Status.</a:t>
            </a:r>
          </a:p>
          <a:p>
            <a:pPr>
              <a:spcAft>
                <a:spcPts val="1200"/>
              </a:spcAft>
              <a:defRPr sz="2000"/>
            </a:pPr>
            <a:r>
              <a:t>Age, purchase amount, review rating and previous purchases showed relatively small differences.</a:t>
            </a:r>
          </a:p>
          <a:p>
            <a:pPr>
              <a:spcAft>
                <a:spcPts val="1200"/>
              </a:spcAft>
              <a:defRPr sz="2000"/>
            </a:pPr>
            <a:r>
              <a:t>Category, season, payment method and purchase frequency were useful for profiling but did not strongly separate the clusters.</a:t>
            </a:r>
          </a:p>
          <a:p>
            <a:pPr>
              <a:spcAft>
                <a:spcPts val="1200"/>
              </a:spcAft>
              <a:defRPr sz="2000"/>
            </a:pPr>
            <a:r>
              <a:t>Therefore, marketing should focus mainly on promotion and subscription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Targeted Marketing Campaigns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Cluster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Subscribe &amp; 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Convert promotional non-subscribers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Loyalty &amp; Cross-Sell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Increase engagement without blanket discounts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Subscriber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Retain and grow existing subscribers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Cluster 0 → subscription benefits and targeted incentives.</a:t>
            </a:r>
          </a:p>
          <a:p>
            <a:pPr>
              <a:spcAft>
                <a:spcPts val="1200"/>
              </a:spcAft>
              <a:defRPr sz="1500"/>
            </a:pPr>
            <a:r>
              <a:t>Cluster 1 → loyalty rewards, recommendations and bundles.</a:t>
            </a:r>
          </a:p>
          <a:p>
            <a:pPr>
              <a:spcAft>
                <a:spcPts val="1200"/>
              </a:spcAft>
              <a:defRPr sz="1500"/>
            </a:pPr>
            <a:r>
              <a:t>Cluster 2 → exclusive offers, personalization and repeat-purchase incentives.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Key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Prioritize targeted discounts for Footwear.</a:t>
            </a:r>
          </a:p>
          <a:p>
            <a:pPr>
              <a:spcAft>
                <a:spcPts val="1200"/>
              </a:spcAft>
              <a:defRPr sz="1900"/>
            </a:pPr>
            <a:r>
              <a:t>Use Fall for higher-value seasonal campaigns.</a:t>
            </a:r>
          </a:p>
          <a:p>
            <a:pPr>
              <a:spcAft>
                <a:spcPts val="1200"/>
              </a:spcAft>
              <a:defRPr sz="1900"/>
            </a:pPr>
            <a:r>
              <a:t>Consider location-specific marketing strategies.</a:t>
            </a:r>
          </a:p>
          <a:p>
            <a:pPr>
              <a:spcAft>
                <a:spcPts val="1200"/>
              </a:spcAft>
              <a:defRPr sz="1900"/>
            </a:pPr>
            <a:r>
              <a:t>Do not rely on age alone for customer targeting.</a:t>
            </a:r>
          </a:p>
          <a:p>
            <a:pPr>
              <a:spcAft>
                <a:spcPts val="1200"/>
              </a:spcAft>
              <a:defRPr sz="1900"/>
            </a:pPr>
            <a:r>
              <a:t>Avoid blanket discounts for the largest non-promotional segment.</a:t>
            </a:r>
          </a:p>
          <a:p>
            <a:pPr>
              <a:spcAft>
                <a:spcPts val="1200"/>
              </a:spcAft>
              <a:defRPr sz="1900"/>
            </a:pPr>
            <a:r>
              <a:t>Convert promotional non-subscribers into subscribers.</a:t>
            </a:r>
          </a:p>
          <a:p>
            <a:pPr>
              <a:spcAft>
                <a:spcPts val="1200"/>
              </a:spcAft>
              <a:defRPr sz="1900"/>
            </a:pPr>
            <a:r>
              <a:t>Focus on retention and personalization for existing subscribers.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analysis provides a data-driven view of customer shopping behavior across 3,900 records.</a:t>
            </a:r>
          </a:p>
          <a:p>
            <a:pPr>
              <a:spcAft>
                <a:spcPts val="1200"/>
              </a:spcAft>
              <a:defRPr sz="1900"/>
            </a:pPr>
            <a:r>
              <a:t>Footwear showed the strongest observed opportunity for targeted discounting.</a:t>
            </a:r>
          </a:p>
          <a:p>
            <a:pPr>
              <a:spcAft>
                <a:spcPts val="1200"/>
              </a:spcAft>
              <a:defRPr sz="1900"/>
            </a:pPr>
            <a:r>
              <a:t>Fall had the highest average purchase value, while location showed meaningful spending variation.</a:t>
            </a:r>
          </a:p>
          <a:p>
            <a:pPr>
              <a:spcAft>
                <a:spcPts val="1200"/>
              </a:spcAft>
              <a:defRPr sz="1900"/>
            </a:pPr>
            <a:r>
              <a:t>K-Means produced three interpretable customer segments.</a:t>
            </a:r>
          </a:p>
          <a:p>
            <a:pPr>
              <a:spcAft>
                <a:spcPts val="1200"/>
              </a:spcAft>
              <a:defRPr sz="1900"/>
            </a:pPr>
            <a:r>
              <a:t>Promotional engagement and subscription status were the dominant differentiating factors.</a:t>
            </a:r>
          </a:p>
          <a:p>
            <a:pPr>
              <a:spcAft>
                <a:spcPts val="1200"/>
              </a:spcAft>
              <a:defRPr sz="1900"/>
            </a:pPr>
            <a:r>
              <a:t>Targeted campaigns can focus on subscription conversion, loyalty/cross-selling and subscriber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8434" y="2468880"/>
            <a:ext cx="270465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THANK YOU</a:t>
            </a:r>
          </a:p>
          <a:p>
            <a:pPr algn="ctr">
              <a:defRPr sz="2200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D K</cp:lastModifiedBy>
  <cp:revision>2</cp:revision>
  <dcterms:created xsi:type="dcterms:W3CDTF">2013-01-27T09:14:16Z</dcterms:created>
  <dcterms:modified xsi:type="dcterms:W3CDTF">2026-10-07T16:29:31Z</dcterms:modified>
  <cp:category/>
</cp:coreProperties>
</file>